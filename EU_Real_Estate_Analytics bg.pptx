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61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80C"/>
    <a:srgbClr val="162A52"/>
    <a:srgbClr val="7C3AED"/>
    <a:srgbClr val="0D9488"/>
    <a:srgbClr val="C9A84C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5" autoAdjust="0"/>
    <p:restoredTop sz="95165" autoAdjust="0"/>
  </p:normalViewPr>
  <p:slideViewPr>
    <p:cSldViewPr snapToGrid="0" snapToObjects="1">
      <p:cViewPr>
        <p:scale>
          <a:sx n="75" d="100"/>
          <a:sy n="75" d="100"/>
        </p:scale>
        <p:origin x="660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61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46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08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75488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-914400"/>
            <a:ext cx="2011680" cy="201168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0"/>
            <a:ext cx="1645920" cy="164592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188720"/>
            <a:ext cx="9966960" cy="4572000"/>
          </a:xfrm>
          <a:prstGeom prst="rect">
            <a:avLst/>
          </a:prstGeom>
          <a:solidFill>
            <a:srgbClr val="112040">
              <a:alpha val="80000"/>
            </a:srgbClr>
          </a:solidFill>
          <a:ln w="6350">
            <a:solidFill>
              <a:srgbClr val="1E3A6E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188720"/>
            <a:ext cx="54864" cy="4572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630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</a:rPr>
              <a:t>EUROPEAN REAL ESTATE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20299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C9A84C"/>
                </a:solidFill>
              </a:rPr>
              <a:t>MARKET ANALYTICS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371600" y="2788920"/>
            <a:ext cx="9326880" cy="914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85292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rgbClr val="94A3B8"/>
                </a:solidFill>
              </a:rPr>
              <a:t>Interactive Power BI Dashboard  ·  5,000 Listings  ·  10 EU Nations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246120"/>
            <a:ext cx="2103120" cy="822960"/>
          </a:xfrm>
          <a:prstGeom prst="rect">
            <a:avLst/>
          </a:prstGeom>
          <a:solidFill>
            <a:srgbClr val="162A52">
              <a:alpha val="70000"/>
            </a:srgbClr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3101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5,000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721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Active Listings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3320" y="3246120"/>
            <a:ext cx="2103120" cy="822960"/>
          </a:xfrm>
          <a:prstGeom prst="rect">
            <a:avLst/>
          </a:prstGeom>
          <a:solidFill>
            <a:srgbClr val="162A52">
              <a:alpha val="70000"/>
            </a:srgbClr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3101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C96A"/>
                </a:solidFill>
              </a:rPr>
              <a:t>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94760" y="3721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EU Countries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3246120"/>
            <a:ext cx="2103120" cy="822960"/>
          </a:xfrm>
          <a:prstGeom prst="rect">
            <a:avLst/>
          </a:prstGeom>
          <a:solidFill>
            <a:srgbClr val="162A52">
              <a:alpha val="70000"/>
            </a:srgbClr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3101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€621.85K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3721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Avg Sale Price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66760" y="3246120"/>
            <a:ext cx="2103120" cy="822960"/>
          </a:xfrm>
          <a:prstGeom prst="rect">
            <a:avLst/>
          </a:prstGeom>
          <a:solidFill>
            <a:srgbClr val="162A52">
              <a:alpha val="70000"/>
            </a:srgbClr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3101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</a:rPr>
              <a:t>2.89%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58200" y="3721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Market Blend Yield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4315968"/>
            <a:ext cx="2926080" cy="292608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315968"/>
            <a:ext cx="36576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4315968"/>
            <a:ext cx="2926080" cy="292608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4315968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4315968"/>
            <a:ext cx="2926080" cy="292608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4315968"/>
            <a:ext cx="36576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6629400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1216152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20396"/>
            <a:ext cx="594360" cy="201168"/>
          </a:xfrm>
          <a:prstGeom prst="rect">
            <a:avLst/>
          </a:prstGeom>
          <a:solidFill>
            <a:srgbClr val="C9A84C">
              <a:alpha val="8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20396"/>
            <a:ext cx="617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</a:rPr>
              <a:t>PAGE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64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Market Overview &amp; Geographic Analysis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56032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European property market — pricing, geographic distribution, listing trends &amp; energy ratings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64376" y="82296"/>
            <a:ext cx="1728975" cy="274320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07020" y="82296"/>
            <a:ext cx="1728975" cy="274320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9665" y="82296"/>
            <a:ext cx="1728975" cy="274320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502920"/>
            <a:ext cx="11795760" cy="256032"/>
          </a:xfrm>
          <a:prstGeom prst="rect">
            <a:avLst/>
          </a:prstGeom>
          <a:solidFill>
            <a:srgbClr val="14254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502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C"/>
                </a:solidFill>
              </a:rPr>
              <a:t>FILTERS: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79" y="502920"/>
            <a:ext cx="10570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BEDROOM BUCKET: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0760" y="524827"/>
            <a:ext cx="730608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1673" y="524827"/>
            <a:ext cx="865878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36464" y="524827"/>
            <a:ext cx="929640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81734" y="800100"/>
            <a:ext cx="1874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4960" y="914400"/>
            <a:ext cx="292608" cy="292608"/>
          </a:xfrm>
          <a:prstGeom prst="ellipse">
            <a:avLst/>
          </a:prstGeom>
          <a:solidFill>
            <a:srgbClr val="C9A84C">
              <a:alpha val="2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84960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</a:rPr>
              <a:t>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914400"/>
            <a:ext cx="1292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TOTAL LISTINGS</a:t>
            </a:r>
            <a:endParaRPr lang="en-US" sz="1000" b="1" dirty="0"/>
          </a:p>
        </p:txBody>
      </p:sp>
      <p:sp>
        <p:nvSpPr>
          <p:cNvPr id="33" name="Shape 31"/>
          <p:cNvSpPr/>
          <p:nvPr/>
        </p:nvSpPr>
        <p:spPr>
          <a:xfrm>
            <a:off x="2161032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160115" y="804672"/>
            <a:ext cx="1874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3112" y="914400"/>
            <a:ext cx="292608" cy="292608"/>
          </a:xfrm>
          <a:prstGeom prst="ellipse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3112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💶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70760" y="914400"/>
            <a:ext cx="1292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SALE PRICE</a:t>
            </a:r>
            <a:endParaRPr lang="en-US" sz="1000" b="1" dirty="0"/>
          </a:p>
        </p:txBody>
      </p:sp>
      <p:sp>
        <p:nvSpPr>
          <p:cNvPr id="40" name="Shape 38"/>
          <p:cNvSpPr/>
          <p:nvPr/>
        </p:nvSpPr>
        <p:spPr>
          <a:xfrm>
            <a:off x="4139184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38496" y="804672"/>
            <a:ext cx="18745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41264" y="914400"/>
            <a:ext cx="292608" cy="292608"/>
          </a:xfrm>
          <a:prstGeom prst="ellipse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41264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48912" y="914400"/>
            <a:ext cx="1292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PRICE / M²</a:t>
            </a:r>
            <a:endParaRPr lang="en-US" sz="1000" b="1" dirty="0"/>
          </a:p>
        </p:txBody>
      </p:sp>
      <p:sp>
        <p:nvSpPr>
          <p:cNvPr id="47" name="Shape 45"/>
          <p:cNvSpPr/>
          <p:nvPr/>
        </p:nvSpPr>
        <p:spPr>
          <a:xfrm>
            <a:off x="6117336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16877" y="804672"/>
            <a:ext cx="18745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19416" y="914400"/>
            <a:ext cx="292608" cy="292608"/>
          </a:xfrm>
          <a:prstGeom prst="ellipse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19416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55F7"/>
                </a:solidFill>
              </a:rPr>
              <a:t>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89904" y="914400"/>
            <a:ext cx="153644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DAYS ON MARKET</a:t>
            </a:r>
            <a:endParaRPr lang="en-US" sz="1000" b="1" dirty="0"/>
          </a:p>
        </p:txBody>
      </p:sp>
      <p:sp>
        <p:nvSpPr>
          <p:cNvPr id="54" name="Shape 52"/>
          <p:cNvSpPr/>
          <p:nvPr/>
        </p:nvSpPr>
        <p:spPr>
          <a:xfrm>
            <a:off x="8095488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095258" y="804672"/>
            <a:ext cx="18745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73640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0073640" y="804672"/>
            <a:ext cx="187452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914400"/>
            <a:ext cx="292608" cy="292608"/>
          </a:xfrm>
          <a:prstGeom prst="ellipse">
            <a:avLst/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475720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🔑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106025" y="914400"/>
            <a:ext cx="136969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94A3B8"/>
                </a:solidFill>
              </a:rPr>
              <a:t>AVG RENT / MONTH</a:t>
            </a:r>
            <a:endParaRPr lang="en-US" sz="900" b="1" dirty="0"/>
          </a:p>
        </p:txBody>
      </p:sp>
      <p:sp>
        <p:nvSpPr>
          <p:cNvPr id="68" name="Shape 66"/>
          <p:cNvSpPr/>
          <p:nvPr/>
        </p:nvSpPr>
        <p:spPr>
          <a:xfrm>
            <a:off x="181734" y="1918626"/>
            <a:ext cx="8695944" cy="2086444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82880" y="1841709"/>
            <a:ext cx="8695944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2880" y="1841709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006840" y="1923467"/>
            <a:ext cx="2971800" cy="2086444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9006840" y="1841709"/>
            <a:ext cx="2971800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011403" y="1841709"/>
            <a:ext cx="36576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82880" y="4322959"/>
            <a:ext cx="3632200" cy="2276857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182880" y="4123405"/>
            <a:ext cx="3632200" cy="239895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82880" y="4123405"/>
            <a:ext cx="36576" cy="239895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3933858" y="4322959"/>
            <a:ext cx="4412462" cy="2276857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2" name="Shape 129"/>
          <p:cNvSpPr/>
          <p:nvPr/>
        </p:nvSpPr>
        <p:spPr>
          <a:xfrm>
            <a:off x="3933858" y="4123405"/>
            <a:ext cx="4412462" cy="239895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938136" y="4123405"/>
            <a:ext cx="36576" cy="23989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8455152" y="4322959"/>
            <a:ext cx="3523488" cy="2276857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0" name="Shape 136"/>
          <p:cNvSpPr/>
          <p:nvPr/>
        </p:nvSpPr>
        <p:spPr>
          <a:xfrm>
            <a:off x="8455152" y="4123405"/>
            <a:ext cx="3523488" cy="239895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8455533" y="4123405"/>
            <a:ext cx="36576" cy="23989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7" name="Shape 142"/>
          <p:cNvSpPr/>
          <p:nvPr/>
        </p:nvSpPr>
        <p:spPr>
          <a:xfrm>
            <a:off x="0" y="6686415"/>
            <a:ext cx="12161520" cy="171585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ADCDAD40-7907-3F79-3FA1-B8612A8698D8}"/>
              </a:ext>
            </a:extLst>
          </p:cNvPr>
          <p:cNvSpPr/>
          <p:nvPr/>
        </p:nvSpPr>
        <p:spPr>
          <a:xfrm>
            <a:off x="2570301" y="505777"/>
            <a:ext cx="9809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BUILDING DECADE:</a:t>
            </a:r>
            <a:endParaRPr lang="en-US" sz="800" dirty="0"/>
          </a:p>
        </p:txBody>
      </p:sp>
      <p:sp>
        <p:nvSpPr>
          <p:cNvPr id="150" name="Text 15">
            <a:extLst>
              <a:ext uri="{FF2B5EF4-FFF2-40B4-BE49-F238E27FC236}">
                <a16:creationId xmlns:a16="http://schemas.microsoft.com/office/drawing/2014/main" id="{4D8057E3-8E37-0A8E-C5AF-E7D0D2CD8BAC}"/>
              </a:ext>
            </a:extLst>
          </p:cNvPr>
          <p:cNvSpPr/>
          <p:nvPr/>
        </p:nvSpPr>
        <p:spPr>
          <a:xfrm>
            <a:off x="4337478" y="509015"/>
            <a:ext cx="98097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DAY OF MARKET :</a:t>
            </a:r>
            <a:endParaRPr lang="en-US" sz="800" dirty="0"/>
          </a:p>
        </p:txBody>
      </p:sp>
      <p:sp>
        <p:nvSpPr>
          <p:cNvPr id="73" name="Shape 22">
            <a:extLst>
              <a:ext uri="{FF2B5EF4-FFF2-40B4-BE49-F238E27FC236}">
                <a16:creationId xmlns:a16="http://schemas.microsoft.com/office/drawing/2014/main" id="{8412EA74-F54E-4D9E-A31D-DE93572671ED}"/>
              </a:ext>
            </a:extLst>
          </p:cNvPr>
          <p:cNvSpPr/>
          <p:nvPr/>
        </p:nvSpPr>
        <p:spPr>
          <a:xfrm>
            <a:off x="10971784" y="521208"/>
            <a:ext cx="650240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E2D22715-2D26-4888-A88E-CC41E3E8E3D5}"/>
              </a:ext>
            </a:extLst>
          </p:cNvPr>
          <p:cNvSpPr/>
          <p:nvPr/>
        </p:nvSpPr>
        <p:spPr>
          <a:xfrm>
            <a:off x="10214736" y="524065"/>
            <a:ext cx="650240" cy="219456"/>
          </a:xfrm>
          <a:prstGeom prst="rect">
            <a:avLst/>
          </a:prstGeom>
          <a:solidFill>
            <a:srgbClr val="EA580C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78" name="Shape 22">
            <a:extLst>
              <a:ext uri="{FF2B5EF4-FFF2-40B4-BE49-F238E27FC236}">
                <a16:creationId xmlns:a16="http://schemas.microsoft.com/office/drawing/2014/main" id="{905BD212-217F-42D1-BE74-4194FC47EC84}"/>
              </a:ext>
            </a:extLst>
          </p:cNvPr>
          <p:cNvSpPr/>
          <p:nvPr/>
        </p:nvSpPr>
        <p:spPr>
          <a:xfrm>
            <a:off x="7011348" y="530352"/>
            <a:ext cx="1010988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79" name="Text 15">
            <a:extLst>
              <a:ext uri="{FF2B5EF4-FFF2-40B4-BE49-F238E27FC236}">
                <a16:creationId xmlns:a16="http://schemas.microsoft.com/office/drawing/2014/main" id="{E894B0A9-D6EC-42EC-AD57-8D316B8CC9DF}"/>
              </a:ext>
            </a:extLst>
          </p:cNvPr>
          <p:cNvSpPr/>
          <p:nvPr/>
        </p:nvSpPr>
        <p:spPr>
          <a:xfrm>
            <a:off x="6166103" y="514540"/>
            <a:ext cx="8989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PROPERTY TYPE:</a:t>
            </a:r>
            <a:endParaRPr lang="en-US" sz="800" dirty="0"/>
          </a:p>
        </p:txBody>
      </p:sp>
      <p:sp>
        <p:nvSpPr>
          <p:cNvPr id="80" name="Shape 22">
            <a:extLst>
              <a:ext uri="{FF2B5EF4-FFF2-40B4-BE49-F238E27FC236}">
                <a16:creationId xmlns:a16="http://schemas.microsoft.com/office/drawing/2014/main" id="{8C20C2E9-0E4A-4DF5-BCFD-AC993F3DD13D}"/>
              </a:ext>
            </a:extLst>
          </p:cNvPr>
          <p:cNvSpPr/>
          <p:nvPr/>
        </p:nvSpPr>
        <p:spPr>
          <a:xfrm>
            <a:off x="8759435" y="542353"/>
            <a:ext cx="1241053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2058D924-9B71-494D-B90E-728C4F3D4AD4}"/>
              </a:ext>
            </a:extLst>
          </p:cNvPr>
          <p:cNvSpPr/>
          <p:nvPr/>
        </p:nvSpPr>
        <p:spPr>
          <a:xfrm>
            <a:off x="7973159" y="526541"/>
            <a:ext cx="8452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DOM VELOCITY:</a:t>
            </a:r>
            <a:endParaRPr lang="en-US" sz="800" dirty="0"/>
          </a:p>
        </p:txBody>
      </p:sp>
      <p:sp>
        <p:nvSpPr>
          <p:cNvPr id="9" name="Shape 56">
            <a:extLst>
              <a:ext uri="{FF2B5EF4-FFF2-40B4-BE49-F238E27FC236}">
                <a16:creationId xmlns:a16="http://schemas.microsoft.com/office/drawing/2014/main" id="{A1DB7DF8-C452-C4E8-862E-88699E1F24B7}"/>
              </a:ext>
            </a:extLst>
          </p:cNvPr>
          <p:cNvSpPr/>
          <p:nvPr/>
        </p:nvSpPr>
        <p:spPr>
          <a:xfrm>
            <a:off x="9497568" y="914400"/>
            <a:ext cx="292608" cy="292608"/>
          </a:xfrm>
          <a:prstGeom prst="ellipse">
            <a:avLst/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1" name="Text 57">
            <a:extLst>
              <a:ext uri="{FF2B5EF4-FFF2-40B4-BE49-F238E27FC236}">
                <a16:creationId xmlns:a16="http://schemas.microsoft.com/office/drawing/2014/main" id="{D42E9163-368D-2CA9-3629-2681A3981A38}"/>
              </a:ext>
            </a:extLst>
          </p:cNvPr>
          <p:cNvSpPr/>
          <p:nvPr/>
        </p:nvSpPr>
        <p:spPr>
          <a:xfrm>
            <a:off x="9497568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</a:rPr>
              <a:t>💹</a:t>
            </a:r>
            <a:endParaRPr lang="en-US" sz="1000" dirty="0"/>
          </a:p>
        </p:txBody>
      </p:sp>
      <p:sp>
        <p:nvSpPr>
          <p:cNvPr id="13" name="Text 58">
            <a:extLst>
              <a:ext uri="{FF2B5EF4-FFF2-40B4-BE49-F238E27FC236}">
                <a16:creationId xmlns:a16="http://schemas.microsoft.com/office/drawing/2014/main" id="{DEF4D3A5-05BD-F376-1639-CEC20880814D}"/>
              </a:ext>
            </a:extLst>
          </p:cNvPr>
          <p:cNvSpPr/>
          <p:nvPr/>
        </p:nvSpPr>
        <p:spPr>
          <a:xfrm>
            <a:off x="8064500" y="914400"/>
            <a:ext cx="14859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PRICE APPRECIATION</a:t>
            </a:r>
            <a:endParaRPr lang="en-US" sz="1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</p:sp>
      <p:sp>
        <p:nvSpPr>
          <p:cNvPr id="83" name="Shape 2">
            <a:extLst>
              <a:ext uri="{FF2B5EF4-FFF2-40B4-BE49-F238E27FC236}">
                <a16:creationId xmlns:a16="http://schemas.microsoft.com/office/drawing/2014/main" id="{D6F21E4C-5275-47B0-BB71-7E19465CABF7}"/>
              </a:ext>
            </a:extLst>
          </p:cNvPr>
          <p:cNvSpPr/>
          <p:nvPr/>
        </p:nvSpPr>
        <p:spPr>
          <a:xfrm>
            <a:off x="182880" y="116586"/>
            <a:ext cx="612458" cy="201168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121615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20396"/>
            <a:ext cx="61245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</a:rPr>
              <a:t>PAGE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64376" y="82296"/>
            <a:ext cx="1728975" cy="274320"/>
          </a:xfrm>
          <a:prstGeom prst="rect">
            <a:avLst/>
          </a:prstGeom>
          <a:solidFill>
            <a:srgbClr val="162A52"/>
          </a:solidFill>
          <a:ln w="6350">
            <a:noFill/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07020" y="82296"/>
            <a:ext cx="1728975" cy="27432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9665" y="82296"/>
            <a:ext cx="1728975" cy="274320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496633"/>
            <a:ext cx="11795760" cy="256032"/>
          </a:xfrm>
          <a:prstGeom prst="rect">
            <a:avLst/>
          </a:prstGeom>
          <a:solidFill>
            <a:srgbClr val="14254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502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</a:rPr>
              <a:t>FILTERS:</a:t>
            </a:r>
            <a:endParaRPr lang="en-US" sz="800" dirty="0">
              <a:solidFill>
                <a:srgbClr val="0D9488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79" y="502920"/>
            <a:ext cx="86527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PROPERTY TYPE: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81734" y="505777"/>
            <a:ext cx="1009669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42285" y="505777"/>
            <a:ext cx="709186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9276" y="505777"/>
            <a:ext cx="993140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161032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39184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17336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095488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073640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82880" y="1837944"/>
            <a:ext cx="5830824" cy="2108081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82880" y="1814815"/>
            <a:ext cx="5833872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2880" y="1814815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175250" y="1889951"/>
            <a:ext cx="5803390" cy="2056074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6175250" y="1814815"/>
            <a:ext cx="5803390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175493" y="1814815"/>
            <a:ext cx="36576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82880" y="4168587"/>
            <a:ext cx="3173285" cy="2400629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182880" y="4076670"/>
            <a:ext cx="3173285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82880" y="4076670"/>
            <a:ext cx="36576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3497581" y="4151805"/>
            <a:ext cx="4020311" cy="2417411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2" name="Shape 129"/>
          <p:cNvSpPr/>
          <p:nvPr/>
        </p:nvSpPr>
        <p:spPr>
          <a:xfrm>
            <a:off x="3497581" y="4076670"/>
            <a:ext cx="4020311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499159" y="4076670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7647433" y="4168587"/>
            <a:ext cx="4331207" cy="240063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0" name="Shape 136"/>
          <p:cNvSpPr/>
          <p:nvPr/>
        </p:nvSpPr>
        <p:spPr>
          <a:xfrm>
            <a:off x="7647433" y="4076670"/>
            <a:ext cx="4331207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7650796" y="4076670"/>
            <a:ext cx="36576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ADCDAD40-7907-3F79-3FA1-B8612A8698D8}"/>
              </a:ext>
            </a:extLst>
          </p:cNvPr>
          <p:cNvSpPr/>
          <p:nvPr/>
        </p:nvSpPr>
        <p:spPr>
          <a:xfrm>
            <a:off x="2704413" y="505777"/>
            <a:ext cx="90137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ENERGY RATING:</a:t>
            </a:r>
            <a:endParaRPr lang="en-US" sz="800" dirty="0"/>
          </a:p>
        </p:txBody>
      </p:sp>
      <p:sp>
        <p:nvSpPr>
          <p:cNvPr id="150" name="Text 15">
            <a:extLst>
              <a:ext uri="{FF2B5EF4-FFF2-40B4-BE49-F238E27FC236}">
                <a16:creationId xmlns:a16="http://schemas.microsoft.com/office/drawing/2014/main" id="{4D8057E3-8E37-0A8E-C5AF-E7D0D2CD8BAC}"/>
              </a:ext>
            </a:extLst>
          </p:cNvPr>
          <p:cNvSpPr/>
          <p:nvPr/>
        </p:nvSpPr>
        <p:spPr>
          <a:xfrm>
            <a:off x="4233673" y="509015"/>
            <a:ext cx="9160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DAY OF MARKET :</a:t>
            </a:r>
            <a:endParaRPr lang="en-US" sz="800" dirty="0"/>
          </a:p>
        </p:txBody>
      </p:sp>
      <p:sp>
        <p:nvSpPr>
          <p:cNvPr id="73" name="Shape 22">
            <a:extLst>
              <a:ext uri="{FF2B5EF4-FFF2-40B4-BE49-F238E27FC236}">
                <a16:creationId xmlns:a16="http://schemas.microsoft.com/office/drawing/2014/main" id="{8412EA74-F54E-4D9E-A31D-DE93572671ED}"/>
              </a:ext>
            </a:extLst>
          </p:cNvPr>
          <p:cNvSpPr/>
          <p:nvPr/>
        </p:nvSpPr>
        <p:spPr>
          <a:xfrm>
            <a:off x="10971784" y="521208"/>
            <a:ext cx="650240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E2D22715-2D26-4888-A88E-CC41E3E8E3D5}"/>
              </a:ext>
            </a:extLst>
          </p:cNvPr>
          <p:cNvSpPr/>
          <p:nvPr/>
        </p:nvSpPr>
        <p:spPr>
          <a:xfrm>
            <a:off x="10214736" y="524065"/>
            <a:ext cx="650240" cy="219456"/>
          </a:xfrm>
          <a:prstGeom prst="rect">
            <a:avLst/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75" name="Text 30">
            <a:extLst>
              <a:ext uri="{FF2B5EF4-FFF2-40B4-BE49-F238E27FC236}">
                <a16:creationId xmlns:a16="http://schemas.microsoft.com/office/drawing/2014/main" id="{D0AF7004-2A3F-41CC-A44C-6820FFE829C0}"/>
              </a:ext>
            </a:extLst>
          </p:cNvPr>
          <p:cNvSpPr/>
          <p:nvPr/>
        </p:nvSpPr>
        <p:spPr>
          <a:xfrm>
            <a:off x="219456" y="914400"/>
            <a:ext cx="15144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PROPERTY SIZE</a:t>
            </a:r>
            <a:endParaRPr lang="en-US" sz="1000" dirty="0"/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F4313C4E-CA78-494E-9816-4F438D6A4A59}"/>
              </a:ext>
            </a:extLst>
          </p:cNvPr>
          <p:cNvSpPr/>
          <p:nvPr/>
        </p:nvSpPr>
        <p:spPr>
          <a:xfrm>
            <a:off x="2270760" y="914400"/>
            <a:ext cx="126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BEDROOMS</a:t>
            </a:r>
            <a:endParaRPr lang="en-US" sz="1000" dirty="0"/>
          </a:p>
        </p:txBody>
      </p:sp>
      <p:sp>
        <p:nvSpPr>
          <p:cNvPr id="77" name="Text 44">
            <a:extLst>
              <a:ext uri="{FF2B5EF4-FFF2-40B4-BE49-F238E27FC236}">
                <a16:creationId xmlns:a16="http://schemas.microsoft.com/office/drawing/2014/main" id="{745CFFA2-BEF1-4AD1-895E-EA99FA6DF416}"/>
              </a:ext>
            </a:extLst>
          </p:cNvPr>
          <p:cNvSpPr/>
          <p:nvPr/>
        </p:nvSpPr>
        <p:spPr>
          <a:xfrm>
            <a:off x="4248912" y="914400"/>
            <a:ext cx="126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BATHROOMS</a:t>
            </a:r>
            <a:endParaRPr lang="en-US" sz="1000" dirty="0"/>
          </a:p>
        </p:txBody>
      </p:sp>
      <p:sp>
        <p:nvSpPr>
          <p:cNvPr id="78" name="Text 51">
            <a:extLst>
              <a:ext uri="{FF2B5EF4-FFF2-40B4-BE49-F238E27FC236}">
                <a16:creationId xmlns:a16="http://schemas.microsoft.com/office/drawing/2014/main" id="{4B96C237-CFA0-42FE-9182-FD309015AB4A}"/>
              </a:ext>
            </a:extLst>
          </p:cNvPr>
          <p:cNvSpPr/>
          <p:nvPr/>
        </p:nvSpPr>
        <p:spPr>
          <a:xfrm>
            <a:off x="6227064" y="914400"/>
            <a:ext cx="126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% WITH PARKING</a:t>
            </a:r>
            <a:endParaRPr lang="en-US" sz="1000" dirty="0"/>
          </a:p>
        </p:txBody>
      </p:sp>
      <p:sp>
        <p:nvSpPr>
          <p:cNvPr id="79" name="Text 58">
            <a:extLst>
              <a:ext uri="{FF2B5EF4-FFF2-40B4-BE49-F238E27FC236}">
                <a16:creationId xmlns:a16="http://schemas.microsoft.com/office/drawing/2014/main" id="{C568B9D6-5816-4C36-80EB-33D8336FE35C}"/>
              </a:ext>
            </a:extLst>
          </p:cNvPr>
          <p:cNvSpPr/>
          <p:nvPr/>
        </p:nvSpPr>
        <p:spPr>
          <a:xfrm>
            <a:off x="8205216" y="914400"/>
            <a:ext cx="126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AMENITY INDEX</a:t>
            </a:r>
            <a:endParaRPr lang="en-US" sz="1000" dirty="0"/>
          </a:p>
        </p:txBody>
      </p:sp>
      <p:sp>
        <p:nvSpPr>
          <p:cNvPr id="80" name="Text 65">
            <a:extLst>
              <a:ext uri="{FF2B5EF4-FFF2-40B4-BE49-F238E27FC236}">
                <a16:creationId xmlns:a16="http://schemas.microsoft.com/office/drawing/2014/main" id="{B0C9C527-9521-49D1-ADCD-745477A8A8E9}"/>
              </a:ext>
            </a:extLst>
          </p:cNvPr>
          <p:cNvSpPr/>
          <p:nvPr/>
        </p:nvSpPr>
        <p:spPr>
          <a:xfrm>
            <a:off x="10183368" y="914400"/>
            <a:ext cx="126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FLOOR NO</a:t>
            </a:r>
            <a:endParaRPr lang="en-US" sz="1000" dirty="0"/>
          </a:p>
        </p:txBody>
      </p:sp>
      <p:sp>
        <p:nvSpPr>
          <p:cNvPr id="81" name="Text 4">
            <a:extLst>
              <a:ext uri="{FF2B5EF4-FFF2-40B4-BE49-F238E27FC236}">
                <a16:creationId xmlns:a16="http://schemas.microsoft.com/office/drawing/2014/main" id="{41EB82F5-20F4-4595-B132-9AC86D605BCB}"/>
              </a:ext>
            </a:extLst>
          </p:cNvPr>
          <p:cNvSpPr/>
          <p:nvPr/>
        </p:nvSpPr>
        <p:spPr>
          <a:xfrm>
            <a:off x="777240" y="64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Property Characteristics &amp; Pricing Drivers</a:t>
            </a:r>
            <a:endParaRPr lang="en-US" dirty="0"/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81FF203C-BD56-4B37-8897-CC292714331D}"/>
              </a:ext>
            </a:extLst>
          </p:cNvPr>
          <p:cNvSpPr/>
          <p:nvPr/>
        </p:nvSpPr>
        <p:spPr>
          <a:xfrm>
            <a:off x="777240" y="256032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Size, bedrooms, building age, floor level, amenity premiums, furnishing &amp; energy rating impact on price</a:t>
            </a:r>
            <a:endParaRPr lang="en-US" sz="1000" dirty="0"/>
          </a:p>
        </p:txBody>
      </p:sp>
      <p:sp>
        <p:nvSpPr>
          <p:cNvPr id="84" name="Shape 22">
            <a:extLst>
              <a:ext uri="{FF2B5EF4-FFF2-40B4-BE49-F238E27FC236}">
                <a16:creationId xmlns:a16="http://schemas.microsoft.com/office/drawing/2014/main" id="{7A9083DB-C882-4CB6-8DD3-3529C1C01B30}"/>
              </a:ext>
            </a:extLst>
          </p:cNvPr>
          <p:cNvSpPr/>
          <p:nvPr/>
        </p:nvSpPr>
        <p:spPr>
          <a:xfrm>
            <a:off x="7099143" y="505777"/>
            <a:ext cx="1184833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85" name="Text 15">
            <a:extLst>
              <a:ext uri="{FF2B5EF4-FFF2-40B4-BE49-F238E27FC236}">
                <a16:creationId xmlns:a16="http://schemas.microsoft.com/office/drawing/2014/main" id="{D3D17D9A-386A-43DD-A016-F16FB290440D}"/>
              </a:ext>
            </a:extLst>
          </p:cNvPr>
          <p:cNvSpPr/>
          <p:nvPr/>
        </p:nvSpPr>
        <p:spPr>
          <a:xfrm>
            <a:off x="6094984" y="489965"/>
            <a:ext cx="107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FURNISHING STATUS:</a:t>
            </a:r>
            <a:endParaRPr lang="en-US" sz="800" dirty="0"/>
          </a:p>
        </p:txBody>
      </p:sp>
      <p:sp>
        <p:nvSpPr>
          <p:cNvPr id="86" name="Shape 63">
            <a:extLst>
              <a:ext uri="{FF2B5EF4-FFF2-40B4-BE49-F238E27FC236}">
                <a16:creationId xmlns:a16="http://schemas.microsoft.com/office/drawing/2014/main" id="{60BA2902-FAD1-4747-9F36-BC00FB2707CE}"/>
              </a:ext>
            </a:extLst>
          </p:cNvPr>
          <p:cNvSpPr/>
          <p:nvPr/>
        </p:nvSpPr>
        <p:spPr>
          <a:xfrm>
            <a:off x="11475720" y="914400"/>
            <a:ext cx="292608" cy="292608"/>
          </a:xfrm>
          <a:prstGeom prst="ellipse">
            <a:avLst/>
          </a:prstGeom>
          <a:solidFill>
            <a:srgbClr val="EA580C">
              <a:alpha val="20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87" name="Text 64">
            <a:extLst>
              <a:ext uri="{FF2B5EF4-FFF2-40B4-BE49-F238E27FC236}">
                <a16:creationId xmlns:a16="http://schemas.microsoft.com/office/drawing/2014/main" id="{A01BF77D-7885-4D71-9BEA-C014FD386323}"/>
              </a:ext>
            </a:extLst>
          </p:cNvPr>
          <p:cNvSpPr/>
          <p:nvPr/>
        </p:nvSpPr>
        <p:spPr>
          <a:xfrm>
            <a:off x="11475720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580C"/>
                </a:solidFill>
              </a:rPr>
              <a:t>🏗</a:t>
            </a:r>
            <a:endParaRPr lang="en-US" sz="1000" dirty="0"/>
          </a:p>
        </p:txBody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13C782FA-D827-4721-8B47-BDDE1340A284}"/>
              </a:ext>
            </a:extLst>
          </p:cNvPr>
          <p:cNvSpPr/>
          <p:nvPr/>
        </p:nvSpPr>
        <p:spPr>
          <a:xfrm>
            <a:off x="9497568" y="914400"/>
            <a:ext cx="292608" cy="292608"/>
          </a:xfrm>
          <a:prstGeom prst="ellipse">
            <a:avLst/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89" name="Text 57">
            <a:extLst>
              <a:ext uri="{FF2B5EF4-FFF2-40B4-BE49-F238E27FC236}">
                <a16:creationId xmlns:a16="http://schemas.microsoft.com/office/drawing/2014/main" id="{2322C534-B0FE-4131-BD79-F4687AE34D9B}"/>
              </a:ext>
            </a:extLst>
          </p:cNvPr>
          <p:cNvSpPr/>
          <p:nvPr/>
        </p:nvSpPr>
        <p:spPr>
          <a:xfrm>
            <a:off x="9497568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</a:rPr>
              <a:t>⭐</a:t>
            </a:r>
            <a:endParaRPr lang="en-US" sz="1000" dirty="0"/>
          </a:p>
        </p:txBody>
      </p:sp>
      <p:sp>
        <p:nvSpPr>
          <p:cNvPr id="90" name="Shape 49">
            <a:extLst>
              <a:ext uri="{FF2B5EF4-FFF2-40B4-BE49-F238E27FC236}">
                <a16:creationId xmlns:a16="http://schemas.microsoft.com/office/drawing/2014/main" id="{2BE1AD8D-85B2-46E4-8B42-7F4CA55AE168}"/>
              </a:ext>
            </a:extLst>
          </p:cNvPr>
          <p:cNvSpPr/>
          <p:nvPr/>
        </p:nvSpPr>
        <p:spPr>
          <a:xfrm>
            <a:off x="7519416" y="914400"/>
            <a:ext cx="292608" cy="292608"/>
          </a:xfrm>
          <a:prstGeom prst="ellipse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1" name="Text 50">
            <a:extLst>
              <a:ext uri="{FF2B5EF4-FFF2-40B4-BE49-F238E27FC236}">
                <a16:creationId xmlns:a16="http://schemas.microsoft.com/office/drawing/2014/main" id="{9B2BBCD6-5E04-4643-906F-975999B06374}"/>
              </a:ext>
            </a:extLst>
          </p:cNvPr>
          <p:cNvSpPr/>
          <p:nvPr/>
        </p:nvSpPr>
        <p:spPr>
          <a:xfrm>
            <a:off x="7519416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55F7"/>
                </a:solidFill>
              </a:rPr>
              <a:t>🚗</a:t>
            </a:r>
            <a:endParaRPr lang="en-US" sz="1000" dirty="0"/>
          </a:p>
        </p:txBody>
      </p:sp>
      <p:sp>
        <p:nvSpPr>
          <p:cNvPr id="92" name="Shape 42">
            <a:extLst>
              <a:ext uri="{FF2B5EF4-FFF2-40B4-BE49-F238E27FC236}">
                <a16:creationId xmlns:a16="http://schemas.microsoft.com/office/drawing/2014/main" id="{BA808F81-B69A-4455-9C17-31E7F002D76F}"/>
              </a:ext>
            </a:extLst>
          </p:cNvPr>
          <p:cNvSpPr/>
          <p:nvPr/>
        </p:nvSpPr>
        <p:spPr>
          <a:xfrm>
            <a:off x="5541264" y="914400"/>
            <a:ext cx="292608" cy="292608"/>
          </a:xfrm>
          <a:prstGeom prst="ellipse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3" name="Text 43">
            <a:extLst>
              <a:ext uri="{FF2B5EF4-FFF2-40B4-BE49-F238E27FC236}">
                <a16:creationId xmlns:a16="http://schemas.microsoft.com/office/drawing/2014/main" id="{0637B108-48D6-44F3-95CA-1B973A35DC8C}"/>
              </a:ext>
            </a:extLst>
          </p:cNvPr>
          <p:cNvSpPr/>
          <p:nvPr/>
        </p:nvSpPr>
        <p:spPr>
          <a:xfrm>
            <a:off x="5541264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🚿</a:t>
            </a:r>
            <a:endParaRPr lang="en-US" sz="1000" dirty="0"/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DF491842-807F-4397-9B5F-7B5DFD037639}"/>
              </a:ext>
            </a:extLst>
          </p:cNvPr>
          <p:cNvSpPr/>
          <p:nvPr/>
        </p:nvSpPr>
        <p:spPr>
          <a:xfrm>
            <a:off x="3563112" y="914400"/>
            <a:ext cx="292608" cy="292608"/>
          </a:xfrm>
          <a:prstGeom prst="ellipse">
            <a:avLst/>
          </a:prstGeom>
          <a:solidFill>
            <a:srgbClr val="C9A84C">
              <a:alpha val="2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95" name="Text 36">
            <a:extLst>
              <a:ext uri="{FF2B5EF4-FFF2-40B4-BE49-F238E27FC236}">
                <a16:creationId xmlns:a16="http://schemas.microsoft.com/office/drawing/2014/main" id="{739C47A1-24CF-4EF5-8C65-8F2815300D5C}"/>
              </a:ext>
            </a:extLst>
          </p:cNvPr>
          <p:cNvSpPr/>
          <p:nvPr/>
        </p:nvSpPr>
        <p:spPr>
          <a:xfrm>
            <a:off x="3563112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</a:rPr>
              <a:t>🛏</a:t>
            </a:r>
            <a:endParaRPr lang="en-US" sz="1000" dirty="0"/>
          </a:p>
        </p:txBody>
      </p:sp>
      <p:sp>
        <p:nvSpPr>
          <p:cNvPr id="96" name="Shape 28">
            <a:extLst>
              <a:ext uri="{FF2B5EF4-FFF2-40B4-BE49-F238E27FC236}">
                <a16:creationId xmlns:a16="http://schemas.microsoft.com/office/drawing/2014/main" id="{DFDE12A4-94A4-436F-96E5-F991144D69E7}"/>
              </a:ext>
            </a:extLst>
          </p:cNvPr>
          <p:cNvSpPr/>
          <p:nvPr/>
        </p:nvSpPr>
        <p:spPr>
          <a:xfrm>
            <a:off x="1584960" y="914400"/>
            <a:ext cx="292608" cy="292608"/>
          </a:xfrm>
          <a:prstGeom prst="ellipse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7" name="Text 29">
            <a:extLst>
              <a:ext uri="{FF2B5EF4-FFF2-40B4-BE49-F238E27FC236}">
                <a16:creationId xmlns:a16="http://schemas.microsoft.com/office/drawing/2014/main" id="{CF59F4C3-C54C-4003-B620-7F012CE42243}"/>
              </a:ext>
            </a:extLst>
          </p:cNvPr>
          <p:cNvSpPr/>
          <p:nvPr/>
        </p:nvSpPr>
        <p:spPr>
          <a:xfrm>
            <a:off x="1584960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📏</a:t>
            </a:r>
            <a:endParaRPr lang="en-US" sz="1000" dirty="0"/>
          </a:p>
        </p:txBody>
      </p:sp>
      <p:sp>
        <p:nvSpPr>
          <p:cNvPr id="98" name="Shape 27">
            <a:extLst>
              <a:ext uri="{FF2B5EF4-FFF2-40B4-BE49-F238E27FC236}">
                <a16:creationId xmlns:a16="http://schemas.microsoft.com/office/drawing/2014/main" id="{F10F5150-5B46-4283-8B57-56A1704B705F}"/>
              </a:ext>
            </a:extLst>
          </p:cNvPr>
          <p:cNvSpPr/>
          <p:nvPr/>
        </p:nvSpPr>
        <p:spPr>
          <a:xfrm>
            <a:off x="182880" y="804672"/>
            <a:ext cx="18745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9" name="Shape 34">
            <a:extLst>
              <a:ext uri="{FF2B5EF4-FFF2-40B4-BE49-F238E27FC236}">
                <a16:creationId xmlns:a16="http://schemas.microsoft.com/office/drawing/2014/main" id="{1D5E9FC3-5DBE-45F8-9427-1E06F7145D2F}"/>
              </a:ext>
            </a:extLst>
          </p:cNvPr>
          <p:cNvSpPr/>
          <p:nvPr/>
        </p:nvSpPr>
        <p:spPr>
          <a:xfrm>
            <a:off x="2161032" y="804672"/>
            <a:ext cx="1874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0" name="Shape 41">
            <a:extLst>
              <a:ext uri="{FF2B5EF4-FFF2-40B4-BE49-F238E27FC236}">
                <a16:creationId xmlns:a16="http://schemas.microsoft.com/office/drawing/2014/main" id="{04D91646-7CD2-4D72-BD88-E1DDD73D679D}"/>
              </a:ext>
            </a:extLst>
          </p:cNvPr>
          <p:cNvSpPr/>
          <p:nvPr/>
        </p:nvSpPr>
        <p:spPr>
          <a:xfrm>
            <a:off x="4139184" y="804672"/>
            <a:ext cx="1874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1" name="Shape 48">
            <a:extLst>
              <a:ext uri="{FF2B5EF4-FFF2-40B4-BE49-F238E27FC236}">
                <a16:creationId xmlns:a16="http://schemas.microsoft.com/office/drawing/2014/main" id="{842F23B6-383D-4CE5-A528-5301DEF5ACA6}"/>
              </a:ext>
            </a:extLst>
          </p:cNvPr>
          <p:cNvSpPr/>
          <p:nvPr/>
        </p:nvSpPr>
        <p:spPr>
          <a:xfrm>
            <a:off x="6117336" y="804672"/>
            <a:ext cx="18745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2" name="Shape 55">
            <a:extLst>
              <a:ext uri="{FF2B5EF4-FFF2-40B4-BE49-F238E27FC236}">
                <a16:creationId xmlns:a16="http://schemas.microsoft.com/office/drawing/2014/main" id="{C4BD8DC1-B066-485F-9E7B-1F850B5D2449}"/>
              </a:ext>
            </a:extLst>
          </p:cNvPr>
          <p:cNvSpPr/>
          <p:nvPr/>
        </p:nvSpPr>
        <p:spPr>
          <a:xfrm>
            <a:off x="8095488" y="804672"/>
            <a:ext cx="18745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3" name="Shape 62">
            <a:extLst>
              <a:ext uri="{FF2B5EF4-FFF2-40B4-BE49-F238E27FC236}">
                <a16:creationId xmlns:a16="http://schemas.microsoft.com/office/drawing/2014/main" id="{F3AA40B7-67F6-471C-80F0-51C784B59899}"/>
              </a:ext>
            </a:extLst>
          </p:cNvPr>
          <p:cNvSpPr/>
          <p:nvPr/>
        </p:nvSpPr>
        <p:spPr>
          <a:xfrm>
            <a:off x="10073640" y="804672"/>
            <a:ext cx="187452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4" name="Shape 22">
            <a:extLst>
              <a:ext uri="{FF2B5EF4-FFF2-40B4-BE49-F238E27FC236}">
                <a16:creationId xmlns:a16="http://schemas.microsoft.com/office/drawing/2014/main" id="{4351D8E1-DD22-457B-8C75-F10FAE801BCC}"/>
              </a:ext>
            </a:extLst>
          </p:cNvPr>
          <p:cNvSpPr/>
          <p:nvPr/>
        </p:nvSpPr>
        <p:spPr>
          <a:xfrm>
            <a:off x="9162288" y="505777"/>
            <a:ext cx="845691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E1674322-8A60-4D12-A650-D58E085176AB}"/>
              </a:ext>
            </a:extLst>
          </p:cNvPr>
          <p:cNvSpPr/>
          <p:nvPr/>
        </p:nvSpPr>
        <p:spPr>
          <a:xfrm>
            <a:off x="8275429" y="489965"/>
            <a:ext cx="9883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DATE HIERARCHY:</a:t>
            </a:r>
            <a:endParaRPr lang="en-US" sz="800" dirty="0"/>
          </a:p>
        </p:txBody>
      </p:sp>
      <p:sp>
        <p:nvSpPr>
          <p:cNvPr id="4" name="Shape 142">
            <a:extLst>
              <a:ext uri="{FF2B5EF4-FFF2-40B4-BE49-F238E27FC236}">
                <a16:creationId xmlns:a16="http://schemas.microsoft.com/office/drawing/2014/main" id="{245535B3-D69F-4FB4-77C6-CA8A8EB2D9F9}"/>
              </a:ext>
            </a:extLst>
          </p:cNvPr>
          <p:cNvSpPr/>
          <p:nvPr/>
        </p:nvSpPr>
        <p:spPr>
          <a:xfrm>
            <a:off x="0" y="6686415"/>
            <a:ext cx="12161520" cy="171585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654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</p:sp>
      <p:sp>
        <p:nvSpPr>
          <p:cNvPr id="83" name="Shape 2">
            <a:extLst>
              <a:ext uri="{FF2B5EF4-FFF2-40B4-BE49-F238E27FC236}">
                <a16:creationId xmlns:a16="http://schemas.microsoft.com/office/drawing/2014/main" id="{D6F21E4C-5275-47B0-BB71-7E19465CABF7}"/>
              </a:ext>
            </a:extLst>
          </p:cNvPr>
          <p:cNvSpPr/>
          <p:nvPr/>
        </p:nvSpPr>
        <p:spPr>
          <a:xfrm>
            <a:off x="182880" y="116586"/>
            <a:ext cx="594360" cy="201168"/>
          </a:xfrm>
          <a:prstGeom prst="rect">
            <a:avLst/>
          </a:prstGeom>
          <a:solidFill>
            <a:srgbClr val="7C3AED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12161520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203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</a:rPr>
              <a:t>PAGE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64376" y="82296"/>
            <a:ext cx="1728975" cy="274320"/>
          </a:xfrm>
          <a:prstGeom prst="rect">
            <a:avLst/>
          </a:prstGeom>
          <a:solidFill>
            <a:srgbClr val="162A52"/>
          </a:solidFill>
          <a:ln w="6350">
            <a:noFill/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07020" y="82296"/>
            <a:ext cx="1728975" cy="274320"/>
          </a:xfrm>
          <a:prstGeom prst="rect">
            <a:avLst/>
          </a:prstGeom>
          <a:solidFill>
            <a:srgbClr val="162A52"/>
          </a:solidFill>
          <a:ln w="6350">
            <a:solidFill>
              <a:srgbClr val="162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9665" y="82296"/>
            <a:ext cx="1728975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784" y="496633"/>
            <a:ext cx="11795760" cy="256032"/>
          </a:xfrm>
          <a:prstGeom prst="rect">
            <a:avLst/>
          </a:prstGeom>
          <a:solidFill>
            <a:srgbClr val="14254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502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FILTERS:</a:t>
            </a:r>
            <a:endParaRPr lang="en-US" sz="800" dirty="0">
              <a:solidFill>
                <a:srgbClr val="7C3AED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2857" y="502920"/>
            <a:ext cx="1008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BUILDING DECADE: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81734" y="513397"/>
            <a:ext cx="1082853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54477" y="513397"/>
            <a:ext cx="759839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39512" y="513397"/>
            <a:ext cx="886488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161032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39184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17336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095488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073640" y="804672"/>
            <a:ext cx="1874520" cy="932688"/>
          </a:xfrm>
          <a:prstGeom prst="rect">
            <a:avLst/>
          </a:prstGeom>
          <a:solidFill>
            <a:srgbClr val="142548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82880" y="1916845"/>
            <a:ext cx="8073895" cy="2037307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82880" y="1828262"/>
            <a:ext cx="8073895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407020" y="1916845"/>
            <a:ext cx="3571620" cy="2037307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8406160" y="1828262"/>
            <a:ext cx="3572479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12382" y="1828262"/>
            <a:ext cx="36576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82880" y="4195482"/>
            <a:ext cx="8384032" cy="239761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182880" y="4063970"/>
            <a:ext cx="8384032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8717280" y="4195481"/>
            <a:ext cx="3261360" cy="2397611"/>
          </a:xfrm>
          <a:prstGeom prst="rect">
            <a:avLst/>
          </a:prstGeom>
          <a:solidFill>
            <a:srgbClr val="0F2040"/>
          </a:solidFill>
          <a:ln w="635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0" name="Shape 136"/>
          <p:cNvSpPr/>
          <p:nvPr/>
        </p:nvSpPr>
        <p:spPr>
          <a:xfrm>
            <a:off x="8717280" y="4063970"/>
            <a:ext cx="3261360" cy="292608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8723040" y="4063970"/>
            <a:ext cx="36576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ADCDAD40-7907-3F79-3FA1-B8612A8698D8}"/>
              </a:ext>
            </a:extLst>
          </p:cNvPr>
          <p:cNvSpPr/>
          <p:nvPr/>
        </p:nvSpPr>
        <p:spPr>
          <a:xfrm>
            <a:off x="2739344" y="505777"/>
            <a:ext cx="8939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ENERGY RATING:</a:t>
            </a:r>
            <a:endParaRPr lang="en-US" sz="800" dirty="0"/>
          </a:p>
        </p:txBody>
      </p:sp>
      <p:sp>
        <p:nvSpPr>
          <p:cNvPr id="150" name="Text 15">
            <a:extLst>
              <a:ext uri="{FF2B5EF4-FFF2-40B4-BE49-F238E27FC236}">
                <a16:creationId xmlns:a16="http://schemas.microsoft.com/office/drawing/2014/main" id="{4D8057E3-8E37-0A8E-C5AF-E7D0D2CD8BAC}"/>
              </a:ext>
            </a:extLst>
          </p:cNvPr>
          <p:cNvSpPr/>
          <p:nvPr/>
        </p:nvSpPr>
        <p:spPr>
          <a:xfrm>
            <a:off x="4314593" y="509015"/>
            <a:ext cx="1008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BEDROOM BUCKET:</a:t>
            </a:r>
            <a:endParaRPr lang="en-US" sz="800" dirty="0"/>
          </a:p>
        </p:txBody>
      </p:sp>
      <p:sp>
        <p:nvSpPr>
          <p:cNvPr id="73" name="Shape 22">
            <a:extLst>
              <a:ext uri="{FF2B5EF4-FFF2-40B4-BE49-F238E27FC236}">
                <a16:creationId xmlns:a16="http://schemas.microsoft.com/office/drawing/2014/main" id="{8412EA74-F54E-4D9E-A31D-DE93572671ED}"/>
              </a:ext>
            </a:extLst>
          </p:cNvPr>
          <p:cNvSpPr/>
          <p:nvPr/>
        </p:nvSpPr>
        <p:spPr>
          <a:xfrm>
            <a:off x="10971784" y="521208"/>
            <a:ext cx="650240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E2D22715-2D26-4888-A88E-CC41E3E8E3D5}"/>
              </a:ext>
            </a:extLst>
          </p:cNvPr>
          <p:cNvSpPr/>
          <p:nvPr/>
        </p:nvSpPr>
        <p:spPr>
          <a:xfrm>
            <a:off x="10214736" y="524065"/>
            <a:ext cx="650240" cy="219456"/>
          </a:xfrm>
          <a:prstGeom prst="rect">
            <a:avLst/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84" name="Shape 22">
            <a:extLst>
              <a:ext uri="{FF2B5EF4-FFF2-40B4-BE49-F238E27FC236}">
                <a16:creationId xmlns:a16="http://schemas.microsoft.com/office/drawing/2014/main" id="{7A9083DB-C882-4CB6-8DD3-3529C1C01B30}"/>
              </a:ext>
            </a:extLst>
          </p:cNvPr>
          <p:cNvSpPr/>
          <p:nvPr/>
        </p:nvSpPr>
        <p:spPr>
          <a:xfrm>
            <a:off x="7035164" y="513397"/>
            <a:ext cx="1104901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85" name="Text 15">
            <a:extLst>
              <a:ext uri="{FF2B5EF4-FFF2-40B4-BE49-F238E27FC236}">
                <a16:creationId xmlns:a16="http://schemas.microsoft.com/office/drawing/2014/main" id="{D3D17D9A-386A-43DD-A016-F16FB290440D}"/>
              </a:ext>
            </a:extLst>
          </p:cNvPr>
          <p:cNvSpPr/>
          <p:nvPr/>
        </p:nvSpPr>
        <p:spPr>
          <a:xfrm>
            <a:off x="6044184" y="489965"/>
            <a:ext cx="1073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FURNISHING STATUS:</a:t>
            </a:r>
            <a:endParaRPr lang="en-US" sz="800" dirty="0"/>
          </a:p>
        </p:txBody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484BD6AD-5FEB-4DED-BEC7-54CB54C4D9A7}"/>
              </a:ext>
            </a:extLst>
          </p:cNvPr>
          <p:cNvSpPr/>
          <p:nvPr/>
        </p:nvSpPr>
        <p:spPr>
          <a:xfrm>
            <a:off x="777240" y="64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Investor Intelligence &amp; Market Opportunity</a:t>
            </a:r>
            <a:endParaRPr lang="en-US" dirty="0"/>
          </a:p>
        </p:txBody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654AE9A1-F6AB-4169-B2F1-D1CB9A17FB51}"/>
              </a:ext>
            </a:extLst>
          </p:cNvPr>
          <p:cNvSpPr/>
          <p:nvPr/>
        </p:nvSpPr>
        <p:spPr>
          <a:xfrm>
            <a:off x="777240" y="256032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Yields, opportunity matrix, stale listings, price appreciation, DOM distribution &amp; what-if scenario planning</a:t>
            </a:r>
            <a:endParaRPr lang="en-US" sz="1000" dirty="0"/>
          </a:p>
        </p:txBody>
      </p:sp>
      <p:sp>
        <p:nvSpPr>
          <p:cNvPr id="106" name="Shape 27">
            <a:extLst>
              <a:ext uri="{FF2B5EF4-FFF2-40B4-BE49-F238E27FC236}">
                <a16:creationId xmlns:a16="http://schemas.microsoft.com/office/drawing/2014/main" id="{2466152C-DEC3-4D76-A858-D25CF1774877}"/>
              </a:ext>
            </a:extLst>
          </p:cNvPr>
          <p:cNvSpPr/>
          <p:nvPr/>
        </p:nvSpPr>
        <p:spPr>
          <a:xfrm>
            <a:off x="182880" y="804672"/>
            <a:ext cx="18745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85958079-1FBD-48FD-92B5-1D08BA2E9300}"/>
              </a:ext>
            </a:extLst>
          </p:cNvPr>
          <p:cNvSpPr/>
          <p:nvPr/>
        </p:nvSpPr>
        <p:spPr>
          <a:xfrm>
            <a:off x="1665925" y="914400"/>
            <a:ext cx="292608" cy="292608"/>
          </a:xfrm>
          <a:prstGeom prst="ellipse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08" name="Text 29">
            <a:extLst>
              <a:ext uri="{FF2B5EF4-FFF2-40B4-BE49-F238E27FC236}">
                <a16:creationId xmlns:a16="http://schemas.microsoft.com/office/drawing/2014/main" id="{DD19154D-900A-4E84-88F2-967E98268987}"/>
              </a:ext>
            </a:extLst>
          </p:cNvPr>
          <p:cNvSpPr/>
          <p:nvPr/>
        </p:nvSpPr>
        <p:spPr>
          <a:xfrm>
            <a:off x="1665925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55F7"/>
                </a:solidFill>
              </a:rPr>
              <a:t>📈</a:t>
            </a:r>
            <a:endParaRPr lang="en-US" sz="1000" dirty="0"/>
          </a:p>
        </p:txBody>
      </p:sp>
      <p:sp>
        <p:nvSpPr>
          <p:cNvPr id="109" name="Text 30">
            <a:extLst>
              <a:ext uri="{FF2B5EF4-FFF2-40B4-BE49-F238E27FC236}">
                <a16:creationId xmlns:a16="http://schemas.microsoft.com/office/drawing/2014/main" id="{8F6E03CA-9924-47A7-B909-00A199127EE4}"/>
              </a:ext>
            </a:extLst>
          </p:cNvPr>
          <p:cNvSpPr/>
          <p:nvPr/>
        </p:nvSpPr>
        <p:spPr>
          <a:xfrm>
            <a:off x="133349" y="914400"/>
            <a:ext cx="162761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MARKET BLENDED YIELD</a:t>
            </a:r>
            <a:endParaRPr lang="en-US" sz="1000" dirty="0"/>
          </a:p>
        </p:txBody>
      </p:sp>
      <p:sp>
        <p:nvSpPr>
          <p:cNvPr id="110" name="Shape 34">
            <a:extLst>
              <a:ext uri="{FF2B5EF4-FFF2-40B4-BE49-F238E27FC236}">
                <a16:creationId xmlns:a16="http://schemas.microsoft.com/office/drawing/2014/main" id="{05BACC13-2769-44BB-806F-ED952E20C670}"/>
              </a:ext>
            </a:extLst>
          </p:cNvPr>
          <p:cNvSpPr/>
          <p:nvPr/>
        </p:nvSpPr>
        <p:spPr>
          <a:xfrm>
            <a:off x="2161032" y="804672"/>
            <a:ext cx="1874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4" name="Shape 35">
            <a:extLst>
              <a:ext uri="{FF2B5EF4-FFF2-40B4-BE49-F238E27FC236}">
                <a16:creationId xmlns:a16="http://schemas.microsoft.com/office/drawing/2014/main" id="{E2C21C0D-2B62-44D7-89E6-0D91CF10ED50}"/>
              </a:ext>
            </a:extLst>
          </p:cNvPr>
          <p:cNvSpPr/>
          <p:nvPr/>
        </p:nvSpPr>
        <p:spPr>
          <a:xfrm>
            <a:off x="3563112" y="914400"/>
            <a:ext cx="292608" cy="292608"/>
          </a:xfrm>
          <a:prstGeom prst="ellipse">
            <a:avLst/>
          </a:prstGeom>
          <a:solidFill>
            <a:srgbClr val="C9A84C">
              <a:alpha val="2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5" name="Text 36">
            <a:extLst>
              <a:ext uri="{FF2B5EF4-FFF2-40B4-BE49-F238E27FC236}">
                <a16:creationId xmlns:a16="http://schemas.microsoft.com/office/drawing/2014/main" id="{C2757790-76CA-4DFA-81FE-372C3A780AF6}"/>
              </a:ext>
            </a:extLst>
          </p:cNvPr>
          <p:cNvSpPr/>
          <p:nvPr/>
        </p:nvSpPr>
        <p:spPr>
          <a:xfrm>
            <a:off x="3563112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</a:rPr>
              <a:t>⏳</a:t>
            </a:r>
            <a:endParaRPr lang="en-US" sz="1000" dirty="0"/>
          </a:p>
        </p:txBody>
      </p:sp>
      <p:sp>
        <p:nvSpPr>
          <p:cNvPr id="116" name="Text 37">
            <a:extLst>
              <a:ext uri="{FF2B5EF4-FFF2-40B4-BE49-F238E27FC236}">
                <a16:creationId xmlns:a16="http://schemas.microsoft.com/office/drawing/2014/main" id="{C24C1929-B1DF-47C9-91C1-8B8EFEBF1F1E}"/>
              </a:ext>
            </a:extLst>
          </p:cNvPr>
          <p:cNvSpPr/>
          <p:nvPr/>
        </p:nvSpPr>
        <p:spPr>
          <a:xfrm>
            <a:off x="2221992" y="914400"/>
            <a:ext cx="134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HIGH-VALUE SLOW</a:t>
            </a:r>
            <a:endParaRPr lang="en-US" sz="1000" dirty="0"/>
          </a:p>
        </p:txBody>
      </p:sp>
      <p:sp>
        <p:nvSpPr>
          <p:cNvPr id="117" name="Shape 41">
            <a:extLst>
              <a:ext uri="{FF2B5EF4-FFF2-40B4-BE49-F238E27FC236}">
                <a16:creationId xmlns:a16="http://schemas.microsoft.com/office/drawing/2014/main" id="{C8DAF72A-8CC8-487D-A626-186E4709FBF5}"/>
              </a:ext>
            </a:extLst>
          </p:cNvPr>
          <p:cNvSpPr/>
          <p:nvPr/>
        </p:nvSpPr>
        <p:spPr>
          <a:xfrm>
            <a:off x="4151884" y="804672"/>
            <a:ext cx="187452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8" name="Shape 42">
            <a:extLst>
              <a:ext uri="{FF2B5EF4-FFF2-40B4-BE49-F238E27FC236}">
                <a16:creationId xmlns:a16="http://schemas.microsoft.com/office/drawing/2014/main" id="{40A5AECA-5532-44FC-81E2-39FF509A83ED}"/>
              </a:ext>
            </a:extLst>
          </p:cNvPr>
          <p:cNvSpPr/>
          <p:nvPr/>
        </p:nvSpPr>
        <p:spPr>
          <a:xfrm>
            <a:off x="5541264" y="914400"/>
            <a:ext cx="292608" cy="292608"/>
          </a:xfrm>
          <a:prstGeom prst="ellipse">
            <a:avLst/>
          </a:prstGeom>
          <a:solidFill>
            <a:srgbClr val="DC2626">
              <a:alpha val="20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19" name="Text 43">
            <a:extLst>
              <a:ext uri="{FF2B5EF4-FFF2-40B4-BE49-F238E27FC236}">
                <a16:creationId xmlns:a16="http://schemas.microsoft.com/office/drawing/2014/main" id="{48121009-B426-4181-B575-7FC90D768C2E}"/>
              </a:ext>
            </a:extLst>
          </p:cNvPr>
          <p:cNvSpPr/>
          <p:nvPr/>
        </p:nvSpPr>
        <p:spPr>
          <a:xfrm>
            <a:off x="5541264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580C"/>
                </a:solidFill>
              </a:rPr>
              <a:t>🔴</a:t>
            </a:r>
          </a:p>
        </p:txBody>
      </p:sp>
      <p:sp>
        <p:nvSpPr>
          <p:cNvPr id="120" name="Text 44">
            <a:extLst>
              <a:ext uri="{FF2B5EF4-FFF2-40B4-BE49-F238E27FC236}">
                <a16:creationId xmlns:a16="http://schemas.microsoft.com/office/drawing/2014/main" id="{BF0952B3-C5C7-436D-8D2C-520BA13BBB1B}"/>
              </a:ext>
            </a:extLst>
          </p:cNvPr>
          <p:cNvSpPr/>
          <p:nvPr/>
        </p:nvSpPr>
        <p:spPr>
          <a:xfrm>
            <a:off x="4248912" y="914400"/>
            <a:ext cx="126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DOM STALE</a:t>
            </a:r>
            <a:endParaRPr lang="en-US" sz="1000" dirty="0"/>
          </a:p>
        </p:txBody>
      </p:sp>
      <p:sp>
        <p:nvSpPr>
          <p:cNvPr id="121" name="Shape 48">
            <a:extLst>
              <a:ext uri="{FF2B5EF4-FFF2-40B4-BE49-F238E27FC236}">
                <a16:creationId xmlns:a16="http://schemas.microsoft.com/office/drawing/2014/main" id="{7B54B92D-6FAE-454B-A7DE-174FC4FAB9BE}"/>
              </a:ext>
            </a:extLst>
          </p:cNvPr>
          <p:cNvSpPr/>
          <p:nvPr/>
        </p:nvSpPr>
        <p:spPr>
          <a:xfrm>
            <a:off x="6117336" y="804672"/>
            <a:ext cx="1874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2" name="Shape 49">
            <a:extLst>
              <a:ext uri="{FF2B5EF4-FFF2-40B4-BE49-F238E27FC236}">
                <a16:creationId xmlns:a16="http://schemas.microsoft.com/office/drawing/2014/main" id="{B803E276-73F1-4C44-BE1C-7EBD424AF5C9}"/>
              </a:ext>
            </a:extLst>
          </p:cNvPr>
          <p:cNvSpPr/>
          <p:nvPr/>
        </p:nvSpPr>
        <p:spPr>
          <a:xfrm>
            <a:off x="7519416" y="914400"/>
            <a:ext cx="292608" cy="292608"/>
          </a:xfrm>
          <a:prstGeom prst="ellipse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6" name="Text 50">
            <a:extLst>
              <a:ext uri="{FF2B5EF4-FFF2-40B4-BE49-F238E27FC236}">
                <a16:creationId xmlns:a16="http://schemas.microsoft.com/office/drawing/2014/main" id="{4DA49346-FE80-49C7-82AF-D1D3A60B55AF}"/>
              </a:ext>
            </a:extLst>
          </p:cNvPr>
          <p:cNvSpPr/>
          <p:nvPr/>
        </p:nvSpPr>
        <p:spPr>
          <a:xfrm>
            <a:off x="7519416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🎯</a:t>
            </a:r>
            <a:endParaRPr lang="en-US" sz="1000" dirty="0"/>
          </a:p>
        </p:txBody>
      </p:sp>
      <p:sp>
        <p:nvSpPr>
          <p:cNvPr id="127" name="Text 51">
            <a:extLst>
              <a:ext uri="{FF2B5EF4-FFF2-40B4-BE49-F238E27FC236}">
                <a16:creationId xmlns:a16="http://schemas.microsoft.com/office/drawing/2014/main" id="{F41854E0-E47A-49B5-ADB1-95AA7E14B2CD}"/>
              </a:ext>
            </a:extLst>
          </p:cNvPr>
          <p:cNvSpPr/>
          <p:nvPr/>
        </p:nvSpPr>
        <p:spPr>
          <a:xfrm>
            <a:off x="6104637" y="914400"/>
            <a:ext cx="15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OPPORTUNITY SCORE</a:t>
            </a:r>
            <a:endParaRPr lang="en-US" sz="1000" dirty="0"/>
          </a:p>
        </p:txBody>
      </p:sp>
      <p:sp>
        <p:nvSpPr>
          <p:cNvPr id="128" name="Shape 55">
            <a:extLst>
              <a:ext uri="{FF2B5EF4-FFF2-40B4-BE49-F238E27FC236}">
                <a16:creationId xmlns:a16="http://schemas.microsoft.com/office/drawing/2014/main" id="{757ABB80-0316-43AD-8CED-D6073D2A2401}"/>
              </a:ext>
            </a:extLst>
          </p:cNvPr>
          <p:cNvSpPr/>
          <p:nvPr/>
        </p:nvSpPr>
        <p:spPr>
          <a:xfrm>
            <a:off x="8095488" y="804672"/>
            <a:ext cx="18745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0" name="Shape 56">
            <a:extLst>
              <a:ext uri="{FF2B5EF4-FFF2-40B4-BE49-F238E27FC236}">
                <a16:creationId xmlns:a16="http://schemas.microsoft.com/office/drawing/2014/main" id="{65537408-0E37-4D9D-A005-FF144409E576}"/>
              </a:ext>
            </a:extLst>
          </p:cNvPr>
          <p:cNvSpPr/>
          <p:nvPr/>
        </p:nvSpPr>
        <p:spPr>
          <a:xfrm>
            <a:off x="9497568" y="914400"/>
            <a:ext cx="292608" cy="292608"/>
          </a:xfrm>
          <a:prstGeom prst="ellipse">
            <a:avLst/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4" name="Text 57">
            <a:extLst>
              <a:ext uri="{FF2B5EF4-FFF2-40B4-BE49-F238E27FC236}">
                <a16:creationId xmlns:a16="http://schemas.microsoft.com/office/drawing/2014/main" id="{AF1A2AC9-92F3-455E-862D-751DE080F578}"/>
              </a:ext>
            </a:extLst>
          </p:cNvPr>
          <p:cNvSpPr/>
          <p:nvPr/>
        </p:nvSpPr>
        <p:spPr>
          <a:xfrm>
            <a:off x="9497568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</a:rPr>
              <a:t>💹</a:t>
            </a:r>
            <a:endParaRPr lang="en-US" sz="1000" dirty="0"/>
          </a:p>
        </p:txBody>
      </p:sp>
      <p:sp>
        <p:nvSpPr>
          <p:cNvPr id="135" name="Text 58">
            <a:extLst>
              <a:ext uri="{FF2B5EF4-FFF2-40B4-BE49-F238E27FC236}">
                <a16:creationId xmlns:a16="http://schemas.microsoft.com/office/drawing/2014/main" id="{1C139621-F046-4F05-A9C8-5226E61215E1}"/>
              </a:ext>
            </a:extLst>
          </p:cNvPr>
          <p:cNvSpPr/>
          <p:nvPr/>
        </p:nvSpPr>
        <p:spPr>
          <a:xfrm>
            <a:off x="8101659" y="914400"/>
            <a:ext cx="1504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PRICE APPRECIATION</a:t>
            </a:r>
            <a:endParaRPr lang="en-US" sz="1000" dirty="0"/>
          </a:p>
        </p:txBody>
      </p:sp>
      <p:sp>
        <p:nvSpPr>
          <p:cNvPr id="136" name="Shape 62">
            <a:extLst>
              <a:ext uri="{FF2B5EF4-FFF2-40B4-BE49-F238E27FC236}">
                <a16:creationId xmlns:a16="http://schemas.microsoft.com/office/drawing/2014/main" id="{55993B8B-C3C2-4B1F-83CD-77D45E096354}"/>
              </a:ext>
            </a:extLst>
          </p:cNvPr>
          <p:cNvSpPr/>
          <p:nvPr/>
        </p:nvSpPr>
        <p:spPr>
          <a:xfrm>
            <a:off x="10073640" y="804672"/>
            <a:ext cx="18745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8" name="Shape 63">
            <a:extLst>
              <a:ext uri="{FF2B5EF4-FFF2-40B4-BE49-F238E27FC236}">
                <a16:creationId xmlns:a16="http://schemas.microsoft.com/office/drawing/2014/main" id="{E596E66E-D20A-48AA-87B7-6F67276DE278}"/>
              </a:ext>
            </a:extLst>
          </p:cNvPr>
          <p:cNvSpPr/>
          <p:nvPr/>
        </p:nvSpPr>
        <p:spPr>
          <a:xfrm>
            <a:off x="11475720" y="914400"/>
            <a:ext cx="292608" cy="292608"/>
          </a:xfrm>
          <a:prstGeom prst="ellipse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2" name="Text 64">
            <a:extLst>
              <a:ext uri="{FF2B5EF4-FFF2-40B4-BE49-F238E27FC236}">
                <a16:creationId xmlns:a16="http://schemas.microsoft.com/office/drawing/2014/main" id="{C62A8639-570F-4E27-89B4-9A5BF722682C}"/>
              </a:ext>
            </a:extLst>
          </p:cNvPr>
          <p:cNvSpPr/>
          <p:nvPr/>
        </p:nvSpPr>
        <p:spPr>
          <a:xfrm>
            <a:off x="11475720" y="905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🅿</a:t>
            </a:r>
            <a:endParaRPr lang="en-US" sz="1000" dirty="0"/>
          </a:p>
        </p:txBody>
      </p:sp>
      <p:sp>
        <p:nvSpPr>
          <p:cNvPr id="143" name="Text 65">
            <a:extLst>
              <a:ext uri="{FF2B5EF4-FFF2-40B4-BE49-F238E27FC236}">
                <a16:creationId xmlns:a16="http://schemas.microsoft.com/office/drawing/2014/main" id="{588A18FC-4247-496C-8766-B09C0AD628A7}"/>
              </a:ext>
            </a:extLst>
          </p:cNvPr>
          <p:cNvSpPr/>
          <p:nvPr/>
        </p:nvSpPr>
        <p:spPr>
          <a:xfrm>
            <a:off x="10108406" y="914400"/>
            <a:ext cx="146685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4A3B8"/>
                </a:solidFill>
              </a:rPr>
              <a:t>AVG PARKING SPOTS</a:t>
            </a:r>
            <a:endParaRPr lang="en-US" sz="1000" dirty="0"/>
          </a:p>
        </p:txBody>
      </p:sp>
      <p:sp>
        <p:nvSpPr>
          <p:cNvPr id="144" name="Shape 70">
            <a:extLst>
              <a:ext uri="{FF2B5EF4-FFF2-40B4-BE49-F238E27FC236}">
                <a16:creationId xmlns:a16="http://schemas.microsoft.com/office/drawing/2014/main" id="{CCF74A44-2424-4B65-9E9A-D6BC0019A319}"/>
              </a:ext>
            </a:extLst>
          </p:cNvPr>
          <p:cNvSpPr/>
          <p:nvPr/>
        </p:nvSpPr>
        <p:spPr>
          <a:xfrm>
            <a:off x="188595" y="1828262"/>
            <a:ext cx="36576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6" name="Shape 126">
            <a:extLst>
              <a:ext uri="{FF2B5EF4-FFF2-40B4-BE49-F238E27FC236}">
                <a16:creationId xmlns:a16="http://schemas.microsoft.com/office/drawing/2014/main" id="{7282A1F9-5CCB-4177-85A8-ED4D35060D50}"/>
              </a:ext>
            </a:extLst>
          </p:cNvPr>
          <p:cNvSpPr/>
          <p:nvPr/>
        </p:nvSpPr>
        <p:spPr>
          <a:xfrm>
            <a:off x="186690" y="4060922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8" name="Shape 22">
            <a:extLst>
              <a:ext uri="{FF2B5EF4-FFF2-40B4-BE49-F238E27FC236}">
                <a16:creationId xmlns:a16="http://schemas.microsoft.com/office/drawing/2014/main" id="{120B80D5-5DE8-4443-A348-A0C4F822311F}"/>
              </a:ext>
            </a:extLst>
          </p:cNvPr>
          <p:cNvSpPr/>
          <p:nvPr/>
        </p:nvSpPr>
        <p:spPr>
          <a:xfrm>
            <a:off x="8954769" y="513397"/>
            <a:ext cx="881128" cy="219456"/>
          </a:xfrm>
          <a:prstGeom prst="rect">
            <a:avLst/>
          </a:prstGeom>
          <a:solidFill>
            <a:srgbClr val="162A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51" name="Text 15">
            <a:extLst>
              <a:ext uri="{FF2B5EF4-FFF2-40B4-BE49-F238E27FC236}">
                <a16:creationId xmlns:a16="http://schemas.microsoft.com/office/drawing/2014/main" id="{8DB09E82-CDBD-4289-B4F0-08E21D0BF02D}"/>
              </a:ext>
            </a:extLst>
          </p:cNvPr>
          <p:cNvSpPr/>
          <p:nvPr/>
        </p:nvSpPr>
        <p:spPr>
          <a:xfrm>
            <a:off x="8101659" y="489965"/>
            <a:ext cx="9330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DATE HIERARCHY: </a:t>
            </a:r>
            <a:endParaRPr lang="en-US" sz="800" dirty="0"/>
          </a:p>
        </p:txBody>
      </p:sp>
      <p:sp>
        <p:nvSpPr>
          <p:cNvPr id="4" name="Shape 142">
            <a:extLst>
              <a:ext uri="{FF2B5EF4-FFF2-40B4-BE49-F238E27FC236}">
                <a16:creationId xmlns:a16="http://schemas.microsoft.com/office/drawing/2014/main" id="{C8F767AB-572E-5C1A-7B1E-C0B563088D5B}"/>
              </a:ext>
            </a:extLst>
          </p:cNvPr>
          <p:cNvSpPr/>
          <p:nvPr/>
        </p:nvSpPr>
        <p:spPr>
          <a:xfrm>
            <a:off x="0" y="6686415"/>
            <a:ext cx="12161520" cy="171585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052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228</Words>
  <Application>Microsoft Office PowerPoint</Application>
  <PresentationFormat>Widescreen</PresentationFormat>
  <Paragraphs>78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Real Estate Market Analytics</dc:title>
  <dc:subject>PptxGenJS Presentation</dc:subject>
  <dc:creator>PptxGenJS</dc:creator>
  <cp:lastModifiedBy>75400554 Power BI</cp:lastModifiedBy>
  <cp:revision>38</cp:revision>
  <dcterms:created xsi:type="dcterms:W3CDTF">2026-04-06T19:11:40Z</dcterms:created>
  <dcterms:modified xsi:type="dcterms:W3CDTF">2026-04-11T14:33:24Z</dcterms:modified>
</cp:coreProperties>
</file>